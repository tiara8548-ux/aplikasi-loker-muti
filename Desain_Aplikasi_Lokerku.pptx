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731520"/>
            <a:ext cx="553212" cy="553212"/>
          </a:xfrm>
          <a:prstGeom prst="ellipse">
            <a:avLst/>
          </a:prstGeom>
          <a:solidFill>
            <a:srgbClr val="1C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11987"/>
            <a:ext cx="55321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Aptos"/>
              </a:rPr>
              <a:t>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8272" y="791870"/>
            <a:ext cx="1508760" cy="382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60" b="1">
                <a:solidFill>
                  <a:srgbClr val="10223D"/>
                </a:solidFill>
                <a:latin typeface="Aptos"/>
              </a:rPr>
              <a:t>Lokerku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DESAIN UI APLIKASI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Lokerku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07792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DCE4EF"/>
                </a:solidFill>
                <a:latin typeface="Aptos"/>
              </a:rPr>
              <a:t>Rekonstruksi tampilan berdasarkan APK app-debug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3D6"/>
                </a:solidFill>
                <a:latin typeface="Aptos"/>
              </a:rPr>
              <a:t>PowerPoint • Editable UI Mockup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713231"/>
            <a:ext cx="2971800" cy="5806440"/>
          </a:xfrm>
          <a:prstGeom prst="round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640080"/>
            <a:ext cx="2971800" cy="5806440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59" y="749808"/>
            <a:ext cx="2788920" cy="5586983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9572" y="749808"/>
            <a:ext cx="768096" cy="109728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1133856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0223D"/>
                </a:solidFill>
                <a:latin typeface="Aptos"/>
              </a:rPr>
              <a:t>Selamat Datang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1572768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Temukan pekerjaan yang cocok untukmu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59" y="2011679"/>
            <a:ext cx="2331720" cy="438912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30552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Cari lowongan...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59" y="2670048"/>
            <a:ext cx="2331720" cy="1097280"/>
          </a:xfrm>
          <a:prstGeom prst="roundRect">
            <a:avLst/>
          </a:prstGeom>
          <a:solidFill>
            <a:srgbClr val="1C70D2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871215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LOWONGAN TERBARU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191256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UI/UX Designer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493008"/>
            <a:ext cx="1965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Jakarta • Full-time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8288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0223D"/>
                </a:solidFill>
                <a:latin typeface="Aptos"/>
              </a:rPr>
              <a:t>6 layar utama • gaya modern • warna biru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Splash / pembuka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1752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Login &amp; registrasi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2900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Lupa 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84048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Beranda lowongan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5196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Profil pengguna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0223D"/>
                </a:solidFill>
                <a:latin typeface="Aptos"/>
              </a:rPr>
              <a:t>01 — Splash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C7682"/>
                </a:solidFill>
                <a:latin typeface="Aptos"/>
              </a:rPr>
              <a:t>Tampilan pembuka aplikasi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" y="987552"/>
            <a:ext cx="2971800" cy="5486400"/>
          </a:xfrm>
          <a:prstGeom prst="round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914400"/>
            <a:ext cx="2971800" cy="5486400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024128"/>
            <a:ext cx="2788920" cy="52669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16252" y="1024128"/>
            <a:ext cx="768096" cy="109728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024128"/>
            <a:ext cx="2788920" cy="5266944"/>
          </a:xfrm>
          <a:prstGeom prst="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89888" y="1984248"/>
            <a:ext cx="2020824" cy="2194560"/>
          </a:xfrm>
          <a:prstGeom prst="roundRect">
            <a:avLst/>
          </a:prstGeom>
          <a:solidFill>
            <a:srgbClr val="1C70D2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91640" y="2286000"/>
            <a:ext cx="1417319" cy="1600200"/>
          </a:xfrm>
          <a:prstGeom prst="roundRect">
            <a:avLst/>
          </a:prstGeom>
          <a:solidFill>
            <a:srgbClr val="4C92EB"/>
          </a:solidFill>
          <a:ln>
            <a:solidFill>
              <a:srgbClr val="4C9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2596896"/>
            <a:ext cx="1234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425696"/>
            <a:ext cx="2240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Lokerku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928616"/>
            <a:ext cx="224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DCE6F5"/>
                </a:solidFill>
                <a:latin typeface="Aptos"/>
              </a:rPr>
              <a:t>Cari kerja. Temukan peluang.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733288"/>
            <a:ext cx="224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Mulai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0223D"/>
                </a:solidFill>
                <a:latin typeface="Aptos"/>
              </a:rPr>
              <a:t>Elemen desain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91640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Latar biru tua dengan aksen glow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03120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Logo/brand Lokerku di tengah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14600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Tagline singkat untuk memperkenalkan fungsi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26080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Komposisi fokus pada satu CTA utama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40480"/>
            <a:ext cx="6126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32A32"/>
                </a:solidFill>
                <a:latin typeface="Aptos"/>
              </a:rPr>
              <a:t>Tujuan: memberi identitas brand sebelum pengguna masuk ke aplikasi.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0223D"/>
                </a:solidFill>
                <a:latin typeface="Aptos"/>
              </a:rPr>
              <a:t>02 —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C7682"/>
                </a:solidFill>
                <a:latin typeface="Aptos"/>
              </a:rPr>
              <a:t>Halaman masuk pengguna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" y="941832"/>
            <a:ext cx="2971800" cy="5623560"/>
          </a:xfrm>
          <a:prstGeom prst="round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68680"/>
            <a:ext cx="2971800" cy="5623560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978407"/>
            <a:ext cx="2788920" cy="54041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24812" y="978407"/>
            <a:ext cx="768096" cy="109728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1417319"/>
            <a:ext cx="326898" cy="326898"/>
          </a:xfrm>
          <a:prstGeom prst="ellipse">
            <a:avLst/>
          </a:prstGeom>
          <a:solidFill>
            <a:srgbClr val="1C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464868"/>
            <a:ext cx="326898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0989" y="1452981"/>
            <a:ext cx="891540" cy="225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40" b="1">
                <a:solidFill>
                  <a:srgbClr val="10223D"/>
                </a:solidFill>
                <a:latin typeface="Aptos"/>
              </a:rPr>
              <a:t>Lokerku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21408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0223D"/>
                </a:solidFill>
                <a:latin typeface="Aptos"/>
              </a:rPr>
              <a:t>Masuk ke akun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32887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C7682"/>
                </a:solidFill>
                <a:latin typeface="Aptos"/>
              </a:rPr>
              <a:t>Gunakan akunmu untuk melanjutkan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825496"/>
            <a:ext cx="2276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C7682"/>
                </a:solidFill>
                <a:latin typeface="Aptos"/>
              </a:rPr>
              <a:t>Email / Username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" y="3035808"/>
            <a:ext cx="2276856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136391"/>
            <a:ext cx="2020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Masukkan email atau username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557015"/>
            <a:ext cx="2276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C7682"/>
                </a:solidFill>
                <a:latin typeface="Aptos"/>
              </a:rPr>
              <a:t>Password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0432" y="3767327"/>
            <a:ext cx="2276856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3867911"/>
            <a:ext cx="2020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Masukkan 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379976"/>
            <a:ext cx="22768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70D2"/>
                </a:solidFill>
                <a:latin typeface="Aptos"/>
              </a:rPr>
              <a:t>Lupa password?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70432" y="4800600"/>
            <a:ext cx="2276856" cy="457200"/>
          </a:xfrm>
          <a:prstGeom prst="roundRect">
            <a:avLst/>
          </a:prstGeom>
          <a:solidFill>
            <a:srgbClr val="1C70D2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919472"/>
            <a:ext cx="2276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LOGIN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0432" y="5385816"/>
            <a:ext cx="2276856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504688"/>
            <a:ext cx="2276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C70D2"/>
                </a:solidFill>
                <a:latin typeface="Aptos"/>
              </a:rPr>
              <a:t>BUAT AKUN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28016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32A32"/>
                </a:solidFill>
                <a:latin typeface="Aptos"/>
              </a:rPr>
              <a:t>Desain: form sederhana, CTA biru, opsi daftar yang jelas.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057400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Field input konsisten dengan border lembut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468880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Tautan lupa password berada dekat field 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880360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Tombol utama kontras dan mudah dipindai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91840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Tombol sekunder menggunakan outline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0223D"/>
                </a:solidFill>
                <a:latin typeface="Aptos"/>
              </a:rPr>
              <a:t>03 — Registrasi &amp; Lupa Password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C7682"/>
                </a:solidFill>
                <a:latin typeface="Aptos"/>
              </a:rPr>
              <a:t>Dua alur autentikasi pendukung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987552"/>
            <a:ext cx="2971800" cy="5440680"/>
          </a:xfrm>
          <a:prstGeom prst="round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2971800" cy="5440680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024128"/>
            <a:ext cx="2788920" cy="522122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33372" y="1024128"/>
            <a:ext cx="768096" cy="109728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27048"/>
            <a:ext cx="2331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23D"/>
                </a:solidFill>
                <a:latin typeface="Aptos"/>
              </a:rPr>
              <a:t>Daftar Akun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911096"/>
            <a:ext cx="2276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C7682"/>
                </a:solidFill>
                <a:latin typeface="Aptos"/>
              </a:rPr>
              <a:t>Nama lengkap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2121408"/>
            <a:ext cx="2276856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221992"/>
            <a:ext cx="2020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Masukkan nama lengkap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32888"/>
            <a:ext cx="2276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C7682"/>
                </a:solidFill>
                <a:latin typeface="Aptos"/>
              </a:rPr>
              <a:t>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2743200"/>
            <a:ext cx="2276856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2843784"/>
            <a:ext cx="2020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Masukkan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154680"/>
            <a:ext cx="2276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C7682"/>
                </a:solidFill>
                <a:latin typeface="Aptos"/>
              </a:rPr>
              <a:t>Password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" y="3364992"/>
            <a:ext cx="2276856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3465576"/>
            <a:ext cx="2020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Masukkan 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776472"/>
            <a:ext cx="2276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C7682"/>
                </a:solidFill>
                <a:latin typeface="Aptos"/>
              </a:rPr>
              <a:t>Konfirmasi 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3986784"/>
            <a:ext cx="2276856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4087368"/>
            <a:ext cx="2020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Masukkan konfirmasi password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" y="5586984"/>
            <a:ext cx="2276856" cy="457200"/>
          </a:xfrm>
          <a:prstGeom prst="roundRect">
            <a:avLst/>
          </a:prstGeom>
          <a:solidFill>
            <a:srgbClr val="1C70D2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5705856"/>
            <a:ext cx="2276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LANJUTKAN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2272" y="987552"/>
            <a:ext cx="2971800" cy="5440680"/>
          </a:xfrm>
          <a:prstGeom prst="round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914400"/>
            <a:ext cx="2971800" cy="5440680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59" y="1024128"/>
            <a:ext cx="2788920" cy="522122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90972" y="1024128"/>
            <a:ext cx="768096" cy="109728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1527048"/>
            <a:ext cx="2331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23D"/>
                </a:solidFill>
                <a:latin typeface="Aptos"/>
              </a:rPr>
              <a:t>Lupa Password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1911096"/>
            <a:ext cx="22768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C7682"/>
                </a:solidFill>
                <a:latin typeface="Aptos"/>
              </a:rPr>
              <a:t>Email terdaftar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36592" y="2121408"/>
            <a:ext cx="2276856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7" y="2221992"/>
            <a:ext cx="20208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Masukkan email terdaftar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36592" y="5586984"/>
            <a:ext cx="2276856" cy="457200"/>
          </a:xfrm>
          <a:prstGeom prst="roundRect">
            <a:avLst/>
          </a:prstGeom>
          <a:solidFill>
            <a:srgbClr val="1C70D2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6592" y="5705856"/>
            <a:ext cx="22768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LANJUTKAN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2344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0223D"/>
                </a:solidFill>
                <a:latin typeface="Aptos"/>
              </a:rPr>
              <a:t>Catatan desain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82880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Gunakan satu bahasa visual untuk semua form.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28600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Jumlah field dibuat ringkas agar proses cepat.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743200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CTA tetap konsisten dengan halaman login.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0223D"/>
                </a:solidFill>
                <a:latin typeface="Aptos"/>
              </a:rPr>
              <a:t>04 — Beranda / Lowongan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C7682"/>
                </a:solidFill>
                <a:latin typeface="Aptos"/>
              </a:rPr>
              <a:t>Layar inti untuk pencarian pekerjaan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" y="941832"/>
            <a:ext cx="3063240" cy="5669280"/>
          </a:xfrm>
          <a:prstGeom prst="round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68680"/>
            <a:ext cx="3063240" cy="5669280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978407"/>
            <a:ext cx="2880360" cy="544982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0532" y="978407"/>
            <a:ext cx="768096" cy="109728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362455"/>
            <a:ext cx="23682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223D"/>
                </a:solidFill>
                <a:latin typeface="Aptos"/>
              </a:rPr>
              <a:t>Halo, User 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709928"/>
            <a:ext cx="2368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C7682"/>
                </a:solidFill>
                <a:latin typeface="Aptos"/>
              </a:rPr>
              <a:t>Temukan lowongan yang sesuai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2148839"/>
            <a:ext cx="2368296" cy="438912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276856"/>
            <a:ext cx="2057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🔍  Cari lowongan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" y="2807208"/>
            <a:ext cx="2368296" cy="914400"/>
          </a:xfrm>
          <a:prstGeom prst="roundRect">
            <a:avLst/>
          </a:prstGeom>
          <a:solidFill>
            <a:srgbClr val="1C70D2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008376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Temukan pekerjaan impianmu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28415"/>
            <a:ext cx="2057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Cari berdasarkan posisi &amp; lokasi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977639"/>
            <a:ext cx="2368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23D"/>
                </a:solidFill>
                <a:latin typeface="Aptos"/>
              </a:rPr>
              <a:t>Lowongan terbaru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4379976"/>
            <a:ext cx="2368296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489704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32A32"/>
                </a:solidFill>
                <a:latin typeface="Aptos"/>
              </a:rPr>
              <a:t>UI/UX Designer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709160"/>
            <a:ext cx="1965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C7682"/>
                </a:solidFill>
                <a:latin typeface="Aptos"/>
              </a:rPr>
              <a:t>Startup Indonesia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0432" y="5166360"/>
            <a:ext cx="2368296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276088"/>
            <a:ext cx="1965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32A32"/>
                </a:solidFill>
                <a:latin typeface="Aptos"/>
              </a:rPr>
              <a:t>Frontend Developer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495544"/>
            <a:ext cx="1965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C7682"/>
                </a:solidFill>
                <a:latin typeface="Aptos"/>
              </a:rPr>
              <a:t>Digital 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608076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C70D2"/>
                </a:solidFill>
                <a:latin typeface="Aptos"/>
              </a:rPr>
              <a:t>Beranda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608076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682"/>
                </a:solidFill>
                <a:latin typeface="Aptos"/>
              </a:rPr>
              <a:t>Cari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608076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682"/>
                </a:solidFill>
                <a:latin typeface="Aptos"/>
              </a:rPr>
              <a:t>Profil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143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0223D"/>
                </a:solidFill>
                <a:latin typeface="Aptos"/>
              </a:rPr>
              <a:t>Komponen utama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737360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Search bar untuk menemukan lowongan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48840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Banner CTA sebagai fokus visual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560320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Kartu lowongan dengan hierarchy judul → perusahaan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971800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Navigasi bawah untuk akses cepat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0223D"/>
                </a:solidFill>
                <a:latin typeface="Aptos"/>
              </a:rPr>
              <a:t>05 — Profil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C7682"/>
                </a:solidFill>
                <a:latin typeface="Aptos"/>
              </a:rPr>
              <a:t>Halaman akun dan data pengguna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" y="941832"/>
            <a:ext cx="3063240" cy="5669280"/>
          </a:xfrm>
          <a:prstGeom prst="roundRect">
            <a:avLst/>
          </a:prstGeom>
          <a:solidFill>
            <a:srgbClr val="D2D7DE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68680"/>
            <a:ext cx="3063240" cy="5669280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978407"/>
            <a:ext cx="2880360" cy="544982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0532" y="978407"/>
            <a:ext cx="768096" cy="109728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89887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0223D"/>
                </a:solidFill>
                <a:latin typeface="Aptos"/>
              </a:rPr>
              <a:t>Profil Saya</a:t>
            </a:r>
          </a:p>
        </p:txBody>
      </p:sp>
      <p:sp>
        <p:nvSpPr>
          <p:cNvPr id="9" name="Oval 8"/>
          <p:cNvSpPr/>
          <p:nvPr/>
        </p:nvSpPr>
        <p:spPr>
          <a:xfrm>
            <a:off x="1970532" y="1938528"/>
            <a:ext cx="768096" cy="768096"/>
          </a:xfrm>
          <a:prstGeom prst="ellipse">
            <a:avLst/>
          </a:prstGeom>
          <a:solidFill>
            <a:srgbClr val="F4F7FB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0532" y="2212848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682"/>
                </a:solidFill>
                <a:latin typeface="Aptos"/>
              </a:rPr>
              <a:t>Foto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52927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0223D"/>
                </a:solidFill>
                <a:latin typeface="Aptos"/>
              </a:rPr>
              <a:t>Nama Pengguna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10127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C7682"/>
                </a:solidFill>
                <a:latin typeface="Aptos"/>
              </a:rPr>
              <a:t>Username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310127"/>
            <a:ext cx="16459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32A32"/>
                </a:solidFill>
                <a:latin typeface="Aptos"/>
              </a:rPr>
              <a:t>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5876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C7682"/>
                </a:solidFill>
                <a:latin typeface="Aptos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858768"/>
            <a:ext cx="16459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32A32"/>
                </a:solidFill>
                <a:latin typeface="Aptos"/>
              </a:rPr>
              <a:t>email@example.com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0740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C7682"/>
                </a:solidFill>
                <a:latin typeface="Aptos"/>
              </a:rPr>
              <a:t>No. 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407408"/>
            <a:ext cx="16459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32A32"/>
                </a:solidFill>
                <a:latin typeface="Aptos"/>
              </a:rPr>
              <a:t>08xxxxxxxxxx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5138927"/>
            <a:ext cx="23317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257799"/>
            <a:ext cx="2331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C70D2"/>
                </a:solidFill>
                <a:latin typeface="Aptos"/>
              </a:rPr>
              <a:t>SIMPAN PROFIL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715000"/>
            <a:ext cx="2331720" cy="457200"/>
          </a:xfrm>
          <a:prstGeom prst="roundRect">
            <a:avLst/>
          </a:prstGeom>
          <a:solidFill>
            <a:srgbClr val="1C70D2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833872"/>
            <a:ext cx="2331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KELUAR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234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0223D"/>
                </a:solidFill>
                <a:latin typeface="Aptos"/>
              </a:rPr>
              <a:t>Pola visual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828800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Avatar menjadi titik fokus halaman.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240280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Data pengguna ditampilkan dalam baris yang mudah dibaca.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651760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Aksi simpan dan keluar dipisahkan secara visual.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0223D"/>
                </a:solidFill>
                <a:latin typeface="Aptos"/>
              </a:rPr>
              <a:t>06 —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C7682"/>
                </a:solidFill>
                <a:latin typeface="Aptos"/>
              </a:rPr>
              <a:t>Panduan visual yang dapat dipakai saat mengembangkan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0223D"/>
                </a:solidFill>
                <a:latin typeface="Aptos"/>
              </a:rPr>
              <a:t>Palet warna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1560" cy="685800"/>
          </a:xfrm>
          <a:prstGeom prst="roundRect">
            <a:avLst/>
          </a:prstGeom>
          <a:solidFill>
            <a:srgbClr val="10223D"/>
          </a:solidFill>
          <a:ln>
            <a:solidFill>
              <a:srgbClr val="10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A32"/>
                </a:solidFill>
                <a:latin typeface="Aptos"/>
              </a:rPr>
              <a:t>Navy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682"/>
                </a:solidFill>
                <a:latin typeface="Aptos"/>
              </a:rPr>
              <a:t>#10223D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737360"/>
            <a:ext cx="1051560" cy="685800"/>
          </a:xfrm>
          <a:prstGeom prst="roundRect">
            <a:avLst/>
          </a:prstGeom>
          <a:solidFill>
            <a:srgbClr val="1C70D2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2542032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A32"/>
                </a:solidFill>
                <a:latin typeface="Aptos"/>
              </a:rPr>
              <a:t>Primary 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788920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682"/>
                </a:solidFill>
                <a:latin typeface="Aptos"/>
              </a:rPr>
              <a:t>#1C70D2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737360"/>
            <a:ext cx="1051560" cy="685800"/>
          </a:xfrm>
          <a:prstGeom prst="roundRect">
            <a:avLst/>
          </a:prstGeom>
          <a:solidFill>
            <a:srgbClr val="4C92EB"/>
          </a:solidFill>
          <a:ln>
            <a:solidFill>
              <a:srgbClr val="4C9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542032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A32"/>
                </a:solidFill>
                <a:latin typeface="Aptos"/>
              </a:rPr>
              <a:t>Accent 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682"/>
                </a:solidFill>
                <a:latin typeface="Aptos"/>
              </a:rPr>
              <a:t>#4C92EB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737360"/>
            <a:ext cx="1051560" cy="6858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2542032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A32"/>
                </a:solidFill>
                <a:latin typeface="Aptos"/>
              </a:rPr>
              <a:t>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788920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682"/>
                </a:solidFill>
                <a:latin typeface="Aptos"/>
              </a:rPr>
              <a:t>#F4F7FB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1051560" cy="685800"/>
          </a:xfrm>
          <a:prstGeom prst="roundRect">
            <a:avLst/>
          </a:prstGeom>
          <a:solidFill>
            <a:srgbClr val="232A32"/>
          </a:solidFill>
          <a:ln>
            <a:solidFill>
              <a:srgbClr val="232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42032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32A32"/>
                </a:solidFill>
                <a:latin typeface="Aptos"/>
              </a:rPr>
              <a:t>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88920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C7682"/>
                </a:solidFill>
                <a:latin typeface="Aptos"/>
              </a:rPr>
              <a:t>#232A32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0223D"/>
                </a:solidFill>
                <a:latin typeface="Aptos"/>
              </a:rPr>
              <a:t>Komponen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508760" cy="457200"/>
          </a:xfrm>
          <a:prstGeom prst="roundRect">
            <a:avLst/>
          </a:prstGeom>
          <a:solidFill>
            <a:srgbClr val="1C70D2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59352"/>
            <a:ext cx="1508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PRIMARY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840480"/>
            <a:ext cx="15087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1C7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3959352"/>
            <a:ext cx="1508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C70D2"/>
                </a:solidFill>
                <a:latin typeface="Aptos"/>
              </a:rPr>
              <a:t>OUTLINE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840480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968496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C7682"/>
                </a:solidFill>
                <a:latin typeface="Aptos"/>
              </a:rPr>
              <a:t>Input field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70332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3822191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32A32"/>
                </a:solidFill>
                <a:latin typeface="Aptos"/>
              </a:rPr>
              <a:t>Job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0223D"/>
                </a:solidFill>
                <a:latin typeface="Aptos"/>
              </a:rPr>
              <a:t>Prinsip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Konsisten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212080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Sederhana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212080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Mudah dipindai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212080"/>
            <a:ext cx="1828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32A32"/>
                </a:solidFill>
                <a:latin typeface="Aptos"/>
              </a:rPr>
              <a:t>• CTA jelas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